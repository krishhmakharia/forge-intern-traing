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2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828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828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20182"/>
            <a:ext cx="499872" cy="31363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28640" y="114300"/>
            <a:ext cx="4429760" cy="75443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617" y="955421"/>
            <a:ext cx="5949315" cy="55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0033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8217" y="2929509"/>
            <a:ext cx="5730875" cy="3265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828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8385" y="114300"/>
            <a:ext cx="4429379" cy="75443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7241" y="942657"/>
            <a:ext cx="6026785" cy="168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5FCAEE"/>
                </a:solidFill>
              </a:rPr>
              <a:t>Software </a:t>
            </a:r>
            <a:r>
              <a:rPr sz="5400" spc="-10" dirty="0">
                <a:solidFill>
                  <a:srgbClr val="5FCAEE"/>
                </a:solidFill>
              </a:rPr>
              <a:t>Engineering</a:t>
            </a:r>
            <a:endParaRPr sz="5400"/>
          </a:p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5FCAEE"/>
                </a:solidFill>
              </a:rPr>
              <a:t>Job </a:t>
            </a:r>
            <a:r>
              <a:rPr sz="5400" spc="-10" dirty="0">
                <a:solidFill>
                  <a:srgbClr val="5FCAEE"/>
                </a:solidFill>
              </a:rPr>
              <a:t>Simulation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1776095" y="2611691"/>
            <a:ext cx="5797550" cy="27152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859280" marR="5080" indent="1295400">
              <a:lnSpc>
                <a:spcPts val="6580"/>
              </a:lnSpc>
              <a:spcBef>
                <a:spcPts val="235"/>
              </a:spcBef>
            </a:pPr>
            <a:r>
              <a:rPr sz="5400" spc="-10" dirty="0">
                <a:solidFill>
                  <a:srgbClr val="5FCAEE"/>
                </a:solidFill>
                <a:latin typeface="Times New Roman"/>
                <a:cs typeface="Times New Roman"/>
              </a:rPr>
              <a:t>(Backend Development)</a:t>
            </a:r>
            <a:endParaRPr sz="5400" dirty="0">
              <a:latin typeface="Times New Roman"/>
              <a:cs typeface="Times New Roman"/>
            </a:endParaRPr>
          </a:p>
          <a:p>
            <a:pPr marL="1755139">
              <a:lnSpc>
                <a:spcPct val="100000"/>
              </a:lnSpc>
              <a:spcBef>
                <a:spcPts val="140"/>
              </a:spcBef>
            </a:pP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Industrial</a:t>
            </a:r>
            <a:r>
              <a:rPr sz="1650" spc="-4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Training</a:t>
            </a:r>
            <a:r>
              <a:rPr sz="1650" spc="-3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Report</a:t>
            </a:r>
            <a:r>
              <a:rPr sz="1650" spc="-2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—</a:t>
            </a:r>
            <a:r>
              <a:rPr sz="1650" spc="-4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Forage,</a:t>
            </a:r>
            <a:r>
              <a:rPr sz="1650" spc="-5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July</a:t>
            </a:r>
            <a:r>
              <a:rPr sz="1650" spc="-5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7E7E7E"/>
                </a:solidFill>
                <a:latin typeface="Times New Roman"/>
                <a:cs typeface="Times New Roman"/>
              </a:rPr>
              <a:t>2025</a:t>
            </a:r>
            <a:endParaRPr sz="1650" dirty="0">
              <a:latin typeface="Times New Roman"/>
              <a:cs typeface="Times New Roman"/>
            </a:endParaRPr>
          </a:p>
          <a:p>
            <a:pPr marL="12700" marR="5715" indent="4150995">
              <a:lnSpc>
                <a:spcPct val="144400"/>
              </a:lnSpc>
              <a:spcBef>
                <a:spcPts val="45"/>
              </a:spcBef>
            </a:pP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By</a:t>
            </a:r>
            <a:r>
              <a:rPr sz="1650" spc="-3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Krish</a:t>
            </a:r>
            <a:r>
              <a:rPr sz="1650" spc="-2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7E7E7E"/>
                </a:solidFill>
                <a:latin typeface="Times New Roman"/>
                <a:cs typeface="Times New Roman"/>
              </a:rPr>
              <a:t>Makharia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Tech</a:t>
            </a:r>
            <a:r>
              <a:rPr sz="1650" spc="-4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Stack:</a:t>
            </a:r>
            <a:r>
              <a:rPr sz="1650" spc="-3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Node.js</a:t>
            </a:r>
            <a:r>
              <a:rPr sz="1650" spc="-3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|</a:t>
            </a:r>
            <a:r>
              <a:rPr sz="1650" spc="-4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lang="en-GB" sz="1650" dirty="0" err="1" smtClean="0">
                <a:solidFill>
                  <a:srgbClr val="7E7E7E"/>
                </a:solidFill>
                <a:latin typeface="Times New Roman"/>
                <a:cs typeface="Times New Roman"/>
              </a:rPr>
              <a:t>SpingBoot</a:t>
            </a:r>
            <a:r>
              <a:rPr sz="1650" dirty="0" smtClean="0">
                <a:solidFill>
                  <a:srgbClr val="7E7E7E"/>
                </a:solidFill>
                <a:latin typeface="Times New Roman"/>
                <a:cs typeface="Times New Roman"/>
              </a:rPr>
              <a:t>|</a:t>
            </a:r>
            <a:r>
              <a:rPr sz="1650" spc="-40" dirty="0" smtClean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Mocha</a:t>
            </a:r>
            <a:r>
              <a:rPr sz="1650" spc="-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|</a:t>
            </a:r>
            <a:r>
              <a:rPr sz="1650" spc="-4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Postman</a:t>
            </a:r>
            <a:r>
              <a:rPr sz="1650" spc="-2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7E7E7E"/>
                </a:solidFill>
                <a:latin typeface="Times New Roman"/>
                <a:cs typeface="Times New Roman"/>
              </a:rPr>
              <a:t>|</a:t>
            </a:r>
            <a:r>
              <a:rPr sz="1650" spc="-4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7E7E7E"/>
                </a:solidFill>
                <a:latin typeface="Times New Roman"/>
                <a:cs typeface="Times New Roman"/>
              </a:rPr>
              <a:t>GitHub</a:t>
            </a:r>
            <a:endParaRPr sz="16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4300"/>
            <a:ext cx="947419" cy="62146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87116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630929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177029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720971"/>
            <a:ext cx="342900" cy="2463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264530"/>
            <a:ext cx="342900" cy="24638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7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Gain</a:t>
            </a:r>
            <a:r>
              <a:rPr spc="-20" dirty="0"/>
              <a:t> </a:t>
            </a:r>
            <a:r>
              <a:rPr dirty="0"/>
              <a:t>practical</a:t>
            </a:r>
            <a:r>
              <a:rPr spc="-20" dirty="0"/>
              <a:t> </a:t>
            </a:r>
            <a:r>
              <a:rPr dirty="0"/>
              <a:t>exposure</a:t>
            </a:r>
            <a:r>
              <a:rPr spc="-1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backend</a:t>
            </a:r>
            <a:r>
              <a:rPr spc="-15" dirty="0"/>
              <a:t> </a:t>
            </a:r>
            <a:r>
              <a:rPr spc="-10" dirty="0"/>
              <a:t>engineering.</a:t>
            </a:r>
          </a:p>
          <a:p>
            <a:pPr marL="12700" marR="1265555">
              <a:lnSpc>
                <a:spcPts val="4300"/>
              </a:lnSpc>
              <a:spcBef>
                <a:spcPts val="400"/>
              </a:spcBef>
            </a:pPr>
            <a:r>
              <a:rPr dirty="0"/>
              <a:t>Design</a:t>
            </a:r>
            <a:r>
              <a:rPr spc="-4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implement</a:t>
            </a:r>
            <a:r>
              <a:rPr spc="-40" dirty="0"/>
              <a:t> </a:t>
            </a:r>
            <a:r>
              <a:rPr dirty="0"/>
              <a:t>RESTful</a:t>
            </a:r>
            <a:r>
              <a:rPr spc="-35" dirty="0"/>
              <a:t> </a:t>
            </a:r>
            <a:r>
              <a:rPr spc="-10" dirty="0"/>
              <a:t>APIs. </a:t>
            </a:r>
            <a:r>
              <a:rPr dirty="0"/>
              <a:t>Handle</a:t>
            </a:r>
            <a:r>
              <a:rPr spc="-15" dirty="0"/>
              <a:t> </a:t>
            </a:r>
            <a:r>
              <a:rPr dirty="0"/>
              <a:t>file</a:t>
            </a:r>
            <a:r>
              <a:rPr spc="-35" dirty="0"/>
              <a:t> </a:t>
            </a:r>
            <a:r>
              <a:rPr dirty="0"/>
              <a:t>uploads</a:t>
            </a:r>
            <a:r>
              <a:rPr spc="-15" dirty="0"/>
              <a:t> </a:t>
            </a:r>
            <a:r>
              <a:rPr spc="-10" dirty="0"/>
              <a:t>securely.</a:t>
            </a: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/>
              <a:t>Develop</a:t>
            </a:r>
            <a:r>
              <a:rPr spc="-1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execute</a:t>
            </a:r>
            <a:r>
              <a:rPr spc="-20" dirty="0"/>
              <a:t> </a:t>
            </a:r>
            <a:r>
              <a:rPr dirty="0"/>
              <a:t>unit</a:t>
            </a:r>
            <a:r>
              <a:rPr spc="-20" dirty="0"/>
              <a:t> </a:t>
            </a:r>
            <a:r>
              <a:rPr spc="-10" dirty="0"/>
              <a:t>tests.</a:t>
            </a: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dirty="0"/>
              <a:t>Bridge</a:t>
            </a:r>
            <a:r>
              <a:rPr spc="-25" dirty="0"/>
              <a:t> </a:t>
            </a:r>
            <a:r>
              <a:rPr dirty="0"/>
              <a:t>academic</a:t>
            </a:r>
            <a:r>
              <a:rPr spc="-20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industry</a:t>
            </a:r>
            <a:r>
              <a:rPr spc="-80" dirty="0"/>
              <a:t> </a:t>
            </a:r>
            <a:r>
              <a:rPr spc="-10" dirty="0"/>
              <a:t>practices.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</a:t>
            </a:r>
            <a:r>
              <a:rPr spc="-90" dirty="0"/>
              <a:t> </a:t>
            </a:r>
            <a:r>
              <a:rPr spc="-1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20948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879850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390644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901310"/>
            <a:ext cx="342900" cy="2463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412104"/>
            <a:ext cx="342900" cy="2463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925184"/>
            <a:ext cx="342900" cy="24637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61925" marR="5080" indent="-149860">
              <a:lnSpc>
                <a:spcPct val="102400"/>
              </a:lnSpc>
              <a:spcBef>
                <a:spcPts val="35"/>
              </a:spcBef>
            </a:pPr>
            <a:r>
              <a:rPr dirty="0"/>
              <a:t>Online</a:t>
            </a:r>
            <a:r>
              <a:rPr spc="-25" dirty="0"/>
              <a:t> </a:t>
            </a:r>
            <a:r>
              <a:rPr dirty="0"/>
              <a:t>simulation</a:t>
            </a:r>
            <a:r>
              <a:rPr spc="-30" dirty="0"/>
              <a:t> </a:t>
            </a:r>
            <a:r>
              <a:rPr dirty="0"/>
              <a:t>by</a:t>
            </a:r>
            <a:r>
              <a:rPr spc="-70" dirty="0"/>
              <a:t> </a:t>
            </a:r>
            <a:r>
              <a:rPr dirty="0"/>
              <a:t>Forage</a:t>
            </a:r>
            <a:r>
              <a:rPr spc="-40" dirty="0"/>
              <a:t> </a:t>
            </a:r>
            <a:r>
              <a:rPr dirty="0"/>
              <a:t>replicating</a:t>
            </a:r>
            <a:r>
              <a:rPr spc="-50" dirty="0"/>
              <a:t> </a:t>
            </a:r>
            <a:r>
              <a:rPr dirty="0"/>
              <a:t>real-</a:t>
            </a:r>
            <a:r>
              <a:rPr spc="-10" dirty="0"/>
              <a:t>world </a:t>
            </a:r>
            <a:r>
              <a:rPr dirty="0"/>
              <a:t>backend</a:t>
            </a:r>
            <a:r>
              <a:rPr spc="10" dirty="0"/>
              <a:t> </a:t>
            </a:r>
            <a:r>
              <a:rPr spc="-10" dirty="0"/>
              <a:t>tasks.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/>
              <a:t>Modules</a:t>
            </a:r>
            <a:r>
              <a:rPr spc="5" dirty="0"/>
              <a:t> </a:t>
            </a:r>
            <a:r>
              <a:rPr spc="-10" dirty="0"/>
              <a:t>completed:</a:t>
            </a:r>
          </a:p>
          <a:p>
            <a:pPr marL="294005" indent="-281305">
              <a:lnSpc>
                <a:spcPct val="100000"/>
              </a:lnSpc>
              <a:spcBef>
                <a:spcPts val="1380"/>
              </a:spcBef>
              <a:buAutoNum type="arabicPeriod"/>
              <a:tabLst>
                <a:tab pos="294005" algn="l"/>
              </a:tabLst>
            </a:pPr>
            <a:r>
              <a:rPr dirty="0"/>
              <a:t>API</a:t>
            </a:r>
            <a:r>
              <a:rPr spc="-20" dirty="0"/>
              <a:t> </a:t>
            </a:r>
            <a:r>
              <a:rPr spc="-10" dirty="0"/>
              <a:t>Proposal</a:t>
            </a:r>
          </a:p>
          <a:p>
            <a:pPr marL="294005" indent="-281305">
              <a:lnSpc>
                <a:spcPct val="100000"/>
              </a:lnSpc>
              <a:spcBef>
                <a:spcPts val="1385"/>
              </a:spcBef>
              <a:buAutoNum type="arabicPeriod"/>
              <a:tabLst>
                <a:tab pos="294005" algn="l"/>
              </a:tabLst>
            </a:pPr>
            <a:r>
              <a:rPr dirty="0"/>
              <a:t>RESTful</a:t>
            </a:r>
            <a:r>
              <a:rPr spc="-45" dirty="0"/>
              <a:t> </a:t>
            </a:r>
            <a:r>
              <a:rPr dirty="0"/>
              <a:t>API</a:t>
            </a:r>
            <a:r>
              <a:rPr spc="-65" dirty="0"/>
              <a:t> </a:t>
            </a:r>
            <a:r>
              <a:rPr spc="-10" dirty="0"/>
              <a:t>Implementation</a:t>
            </a:r>
          </a:p>
          <a:p>
            <a:pPr marL="294005" indent="-281305">
              <a:lnSpc>
                <a:spcPct val="100000"/>
              </a:lnSpc>
              <a:spcBef>
                <a:spcPts val="1380"/>
              </a:spcBef>
              <a:buAutoNum type="arabicPeriod"/>
              <a:tabLst>
                <a:tab pos="294005" algn="l"/>
              </a:tabLst>
            </a:pPr>
            <a:r>
              <a:rPr dirty="0"/>
              <a:t>File</a:t>
            </a:r>
            <a:r>
              <a:rPr spc="-35" dirty="0"/>
              <a:t> </a:t>
            </a:r>
            <a:r>
              <a:rPr dirty="0"/>
              <a:t>Upload</a:t>
            </a:r>
            <a:r>
              <a:rPr spc="-30" dirty="0"/>
              <a:t> </a:t>
            </a:r>
            <a:r>
              <a:rPr spc="-10" dirty="0"/>
              <a:t>Module</a:t>
            </a:r>
          </a:p>
          <a:p>
            <a:pPr marL="294005" indent="-281305">
              <a:lnSpc>
                <a:spcPct val="100000"/>
              </a:lnSpc>
              <a:spcBef>
                <a:spcPts val="1400"/>
              </a:spcBef>
              <a:buAutoNum type="arabicPeriod"/>
              <a:tabLst>
                <a:tab pos="294005" algn="l"/>
              </a:tabLst>
            </a:pPr>
            <a:r>
              <a:rPr dirty="0"/>
              <a:t>Unit</a:t>
            </a:r>
            <a:r>
              <a:rPr spc="-35" dirty="0"/>
              <a:t> </a:t>
            </a:r>
            <a:r>
              <a:rPr spc="-10" dirty="0"/>
              <a:t>Testing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1054353"/>
            <a:ext cx="342900" cy="2463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8217" y="963041"/>
            <a:ext cx="34188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200" dirty="0"/>
          </a:p>
        </p:txBody>
      </p:sp>
      <p:sp>
        <p:nvSpPr>
          <p:cNvPr id="4" name="object 4"/>
          <p:cNvSpPr txBox="1"/>
          <p:nvPr/>
        </p:nvSpPr>
        <p:spPr>
          <a:xfrm>
            <a:off x="749617" y="1499234"/>
            <a:ext cx="400113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003366"/>
                </a:solidFill>
                <a:latin typeface="Times New Roman"/>
                <a:cs typeface="Times New Roman"/>
              </a:rPr>
              <a:t>Tools</a:t>
            </a:r>
            <a:r>
              <a:rPr sz="3500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00" dirty="0">
                <a:solidFill>
                  <a:srgbClr val="003366"/>
                </a:solidFill>
                <a:latin typeface="Times New Roman"/>
                <a:cs typeface="Times New Roman"/>
              </a:rPr>
              <a:t>&amp;</a:t>
            </a:r>
            <a:r>
              <a:rPr sz="3500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00" spc="-10" dirty="0">
                <a:solidFill>
                  <a:srgbClr val="003366"/>
                </a:solidFill>
                <a:latin typeface="Times New Roman"/>
                <a:cs typeface="Times New Roman"/>
              </a:rPr>
              <a:t>Technologies</a:t>
            </a:r>
            <a:endParaRPr sz="3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630929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177029"/>
            <a:ext cx="342900" cy="246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720971"/>
            <a:ext cx="342900" cy="2463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264530"/>
            <a:ext cx="342900" cy="2463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808345"/>
            <a:ext cx="342900" cy="24638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6351904"/>
            <a:ext cx="342900" cy="24637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78217" y="3539490"/>
            <a:ext cx="3632835" cy="308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Language:</a:t>
            </a:r>
            <a:r>
              <a:rPr sz="2200" spc="-9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JavaScript</a:t>
            </a:r>
            <a:r>
              <a:rPr sz="2200" spc="-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(Node.js)</a:t>
            </a:r>
            <a:endParaRPr sz="2200">
              <a:latin typeface="Times New Roman"/>
              <a:cs typeface="Times New Roman"/>
            </a:endParaRPr>
          </a:p>
          <a:p>
            <a:pPr marL="12700" marR="1035685">
              <a:lnSpc>
                <a:spcPct val="162200"/>
              </a:lnSpc>
              <a:spcBef>
                <a:spcPts val="15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Framework:</a:t>
            </a:r>
            <a:r>
              <a:rPr sz="2200" spc="-1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Express.js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File</a:t>
            </a:r>
            <a:r>
              <a:rPr sz="22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Upload: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Multer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4280"/>
              </a:lnSpc>
              <a:spcBef>
                <a:spcPts val="415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Testing:</a:t>
            </a:r>
            <a:r>
              <a:rPr sz="22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Mocha,</a:t>
            </a:r>
            <a:r>
              <a:rPr sz="22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Chai,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Supertest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API</a:t>
            </a:r>
            <a:r>
              <a:rPr sz="22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Testing: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 Postman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Version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Control: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Git,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GitHub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1054353"/>
            <a:ext cx="342900" cy="2463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8217" y="963041"/>
            <a:ext cx="60121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200" dirty="0"/>
          </a:p>
        </p:txBody>
      </p:sp>
      <p:sp>
        <p:nvSpPr>
          <p:cNvPr id="4" name="object 4"/>
          <p:cNvSpPr txBox="1"/>
          <p:nvPr/>
        </p:nvSpPr>
        <p:spPr>
          <a:xfrm>
            <a:off x="749617" y="1499234"/>
            <a:ext cx="24231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-10" dirty="0">
                <a:solidFill>
                  <a:srgbClr val="003366"/>
                </a:solidFill>
                <a:latin typeface="Times New Roman"/>
                <a:cs typeface="Times New Roman"/>
              </a:rPr>
              <a:t>Methodology</a:t>
            </a:r>
            <a:endParaRPr sz="3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628390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197350"/>
            <a:ext cx="342900" cy="246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738751"/>
            <a:ext cx="342900" cy="2463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305044"/>
            <a:ext cx="342900" cy="2463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876925"/>
            <a:ext cx="342900" cy="24638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0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Adopted</a:t>
            </a:r>
            <a:r>
              <a:rPr spc="-20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dirty="0"/>
              <a:t>iterative</a:t>
            </a:r>
            <a:r>
              <a:rPr spc="-50" dirty="0"/>
              <a:t> </a:t>
            </a:r>
            <a:r>
              <a:rPr spc="-10" dirty="0"/>
              <a:t>mini-</a:t>
            </a:r>
            <a:r>
              <a:rPr dirty="0"/>
              <a:t>Agile</a:t>
            </a:r>
            <a:r>
              <a:rPr spc="-20" dirty="0"/>
              <a:t> </a:t>
            </a:r>
            <a:r>
              <a:rPr spc="-10" dirty="0"/>
              <a:t>approach.</a:t>
            </a:r>
          </a:p>
          <a:p>
            <a:pPr marL="12700" marR="5080">
              <a:lnSpc>
                <a:spcPct val="161500"/>
              </a:lnSpc>
              <a:spcBef>
                <a:spcPts val="215"/>
              </a:spcBef>
            </a:pPr>
            <a:r>
              <a:rPr dirty="0"/>
              <a:t>Phases:</a:t>
            </a:r>
            <a:r>
              <a:rPr spc="-25" dirty="0"/>
              <a:t> </a:t>
            </a:r>
            <a:r>
              <a:rPr dirty="0"/>
              <a:t>Plan</a:t>
            </a:r>
            <a:r>
              <a:rPr spc="-35" dirty="0"/>
              <a:t> </a:t>
            </a:r>
            <a:r>
              <a:rPr dirty="0"/>
              <a:t>→</a:t>
            </a:r>
            <a:r>
              <a:rPr spc="-15" dirty="0"/>
              <a:t> </a:t>
            </a:r>
            <a:r>
              <a:rPr dirty="0"/>
              <a:t>Implement</a:t>
            </a:r>
            <a:r>
              <a:rPr spc="-5" dirty="0"/>
              <a:t> </a:t>
            </a:r>
            <a:r>
              <a:rPr dirty="0"/>
              <a:t>→</a:t>
            </a:r>
            <a:r>
              <a:rPr spc="-15" dirty="0"/>
              <a:t> </a:t>
            </a:r>
            <a:r>
              <a:rPr dirty="0"/>
              <a:t>Test</a:t>
            </a:r>
            <a:r>
              <a:rPr spc="-10" dirty="0"/>
              <a:t> </a:t>
            </a:r>
            <a:r>
              <a:rPr dirty="0"/>
              <a:t>→</a:t>
            </a:r>
            <a:r>
              <a:rPr spc="-35" dirty="0"/>
              <a:t> </a:t>
            </a:r>
            <a:r>
              <a:rPr spc="-10" dirty="0"/>
              <a:t>Review. </a:t>
            </a:r>
            <a:r>
              <a:rPr dirty="0"/>
              <a:t>Practices</a:t>
            </a:r>
            <a:r>
              <a:rPr spc="-50" dirty="0"/>
              <a:t> </a:t>
            </a:r>
            <a:r>
              <a:rPr spc="-10" dirty="0"/>
              <a:t>followed:</a:t>
            </a: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pc="-10" dirty="0"/>
              <a:t>Documentation-</a:t>
            </a:r>
            <a:r>
              <a:rPr dirty="0"/>
              <a:t>first</a:t>
            </a:r>
            <a:r>
              <a:rPr spc="40" dirty="0"/>
              <a:t> </a:t>
            </a:r>
            <a:r>
              <a:rPr spc="-10" dirty="0"/>
              <a:t>design</a:t>
            </a: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dirty="0"/>
              <a:t>Test-driven</a:t>
            </a:r>
            <a:r>
              <a:rPr spc="-55" dirty="0"/>
              <a:t> </a:t>
            </a:r>
            <a:r>
              <a:rPr dirty="0"/>
              <a:t>development</a:t>
            </a:r>
            <a:r>
              <a:rPr spc="-30" dirty="0"/>
              <a:t> </a:t>
            </a:r>
            <a:r>
              <a:rPr spc="-10" dirty="0"/>
              <a:t>(TDD)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1054353"/>
            <a:ext cx="342900" cy="2463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8217" y="963041"/>
            <a:ext cx="420306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200" dirty="0"/>
          </a:p>
        </p:txBody>
      </p:sp>
      <p:sp>
        <p:nvSpPr>
          <p:cNvPr id="4" name="object 4"/>
          <p:cNvSpPr txBox="1"/>
          <p:nvPr/>
        </p:nvSpPr>
        <p:spPr>
          <a:xfrm>
            <a:off x="749617" y="1499234"/>
            <a:ext cx="43611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dirty="0">
                <a:solidFill>
                  <a:srgbClr val="003366"/>
                </a:solidFill>
                <a:latin typeface="Times New Roman"/>
                <a:cs typeface="Times New Roman"/>
              </a:rPr>
              <a:t>Module</a:t>
            </a:r>
            <a:r>
              <a:rPr sz="3500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00" dirty="0">
                <a:solidFill>
                  <a:srgbClr val="003366"/>
                </a:solidFill>
                <a:latin typeface="Times New Roman"/>
                <a:cs typeface="Times New Roman"/>
              </a:rPr>
              <a:t>1:</a:t>
            </a:r>
            <a:r>
              <a:rPr sz="3500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00" dirty="0">
                <a:solidFill>
                  <a:srgbClr val="003366"/>
                </a:solidFill>
                <a:latin typeface="Times New Roman"/>
                <a:cs typeface="Times New Roman"/>
              </a:rPr>
              <a:t>API</a:t>
            </a:r>
            <a:r>
              <a:rPr sz="3500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3500" spc="-10" dirty="0">
                <a:solidFill>
                  <a:srgbClr val="003366"/>
                </a:solidFill>
                <a:latin typeface="Times New Roman"/>
                <a:cs typeface="Times New Roman"/>
              </a:rPr>
              <a:t>Proposal</a:t>
            </a:r>
            <a:endParaRPr sz="3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630929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177029"/>
            <a:ext cx="342900" cy="2463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718303"/>
            <a:ext cx="342900" cy="2463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282310"/>
            <a:ext cx="342900" cy="2463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6169025"/>
            <a:ext cx="342900" cy="24638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78217" y="3539490"/>
            <a:ext cx="6102350" cy="289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Applied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REST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principles</a:t>
            </a:r>
            <a:r>
              <a:rPr sz="2200" spc="-5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(stateless,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resourceoriented).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Modeled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entities: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User,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Document.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Defined</a:t>
            </a:r>
            <a:r>
              <a:rPr sz="22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endpoints</a:t>
            </a:r>
            <a:r>
              <a:rPr sz="22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error</a:t>
            </a:r>
            <a:r>
              <a:rPr sz="22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handling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structure.</a:t>
            </a:r>
            <a:endParaRPr sz="2200">
              <a:latin typeface="Times New Roman"/>
              <a:cs typeface="Times New Roman"/>
            </a:endParaRPr>
          </a:p>
          <a:p>
            <a:pPr marL="161925" marR="650240" indent="-149860">
              <a:lnSpc>
                <a:spcPct val="102299"/>
              </a:lnSpc>
              <a:spcBef>
                <a:spcPts val="1739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Example: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POST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/documents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→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Upload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file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282828"/>
                </a:solidFill>
                <a:latin typeface="Times New Roman"/>
                <a:cs typeface="Times New Roman"/>
              </a:rPr>
              <a:t>with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metadata.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Deliverable: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API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Proposal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Document.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65" dirty="0"/>
              <a:t> </a:t>
            </a:r>
            <a:r>
              <a:rPr dirty="0"/>
              <a:t>2:</a:t>
            </a:r>
            <a:r>
              <a:rPr spc="-65" dirty="0"/>
              <a:t> </a:t>
            </a:r>
            <a:r>
              <a:rPr dirty="0"/>
              <a:t>RESTful</a:t>
            </a:r>
            <a:r>
              <a:rPr spc="-60" dirty="0"/>
              <a:t> </a:t>
            </a:r>
            <a:r>
              <a:rPr dirty="0"/>
              <a:t>Web</a:t>
            </a:r>
            <a:r>
              <a:rPr spc="-70" dirty="0"/>
              <a:t> </a:t>
            </a:r>
            <a:r>
              <a:rPr spc="-10" dirty="0"/>
              <a:t>Service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87116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628390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515230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061203"/>
            <a:ext cx="342900" cy="2463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78217" y="2995548"/>
            <a:ext cx="6461760" cy="233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Built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backend</a:t>
            </a:r>
            <a:r>
              <a:rPr sz="22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using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lang="en-GB" sz="2200" spc="-10" dirty="0" err="1" smtClean="0">
                <a:solidFill>
                  <a:srgbClr val="282828"/>
                </a:solidFill>
                <a:latin typeface="Times New Roman"/>
                <a:cs typeface="Times New Roman"/>
              </a:rPr>
              <a:t>SpringBoot</a:t>
            </a:r>
            <a:r>
              <a:rPr sz="2200" spc="-10" dirty="0" smtClean="0">
                <a:solidFill>
                  <a:srgbClr val="282828"/>
                </a:solidFill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 marL="161925" marR="338455" indent="-149860">
              <a:lnSpc>
                <a:spcPct val="102299"/>
              </a:lnSpc>
              <a:spcBef>
                <a:spcPts val="156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Implemented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validation,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logging,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200" spc="-5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centralized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error handling.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Folder</a:t>
            </a:r>
            <a:r>
              <a:rPr sz="2200" spc="-6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structure</a:t>
            </a:r>
            <a:r>
              <a:rPr sz="22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maintained</a:t>
            </a:r>
            <a:r>
              <a:rPr sz="2200" spc="-6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2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scalability.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Deployed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prototype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to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Render/Heroku</a:t>
            </a:r>
            <a:r>
              <a:rPr sz="2200" spc="-5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200" spc="-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demonstration.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45" dirty="0"/>
              <a:t> </a:t>
            </a:r>
            <a:r>
              <a:rPr dirty="0"/>
              <a:t>3:</a:t>
            </a:r>
            <a:r>
              <a:rPr spc="-45" dirty="0"/>
              <a:t> </a:t>
            </a:r>
            <a:r>
              <a:rPr dirty="0"/>
              <a:t>File</a:t>
            </a:r>
            <a:r>
              <a:rPr spc="-45" dirty="0"/>
              <a:t> </a:t>
            </a:r>
            <a:r>
              <a:rPr dirty="0"/>
              <a:t>Upload</a:t>
            </a:r>
            <a:r>
              <a:rPr spc="-45" dirty="0"/>
              <a:t> </a:t>
            </a:r>
            <a:r>
              <a:rPr spc="-10" dirty="0"/>
              <a:t>Handling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87116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628390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197350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769230"/>
            <a:ext cx="342900" cy="2463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345810"/>
            <a:ext cx="342900" cy="2463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889625"/>
            <a:ext cx="342900" cy="24638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7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Implemented</a:t>
            </a:r>
            <a:r>
              <a:rPr spc="-35" dirty="0"/>
              <a:t> </a:t>
            </a:r>
            <a:r>
              <a:rPr dirty="0"/>
              <a:t>uploads</a:t>
            </a:r>
            <a:r>
              <a:rPr spc="-30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Multer</a:t>
            </a:r>
            <a:r>
              <a:rPr spc="-30" dirty="0"/>
              <a:t> </a:t>
            </a:r>
            <a:r>
              <a:rPr spc="-10" dirty="0"/>
              <a:t>middleware.</a:t>
            </a: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/>
              <a:t>Validation</a:t>
            </a:r>
            <a:r>
              <a:rPr spc="-15" dirty="0"/>
              <a:t> </a:t>
            </a:r>
            <a:r>
              <a:rPr spc="-10" dirty="0"/>
              <a:t>Rules:</a:t>
            </a: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/>
              <a:t>MIME</a:t>
            </a:r>
            <a:r>
              <a:rPr spc="-50" dirty="0"/>
              <a:t> </a:t>
            </a:r>
            <a:r>
              <a:rPr dirty="0"/>
              <a:t>types:</a:t>
            </a:r>
            <a:r>
              <a:rPr spc="-10" dirty="0"/>
              <a:t> </a:t>
            </a:r>
            <a:r>
              <a:rPr dirty="0"/>
              <a:t>PDF,</a:t>
            </a:r>
            <a:r>
              <a:rPr spc="-15" dirty="0"/>
              <a:t> </a:t>
            </a:r>
            <a:r>
              <a:rPr dirty="0"/>
              <a:t>PNG,</a:t>
            </a:r>
            <a:r>
              <a:rPr spc="-10" dirty="0"/>
              <a:t> </a:t>
            </a:r>
            <a:r>
              <a:rPr spc="-20" dirty="0"/>
              <a:t>JPEG</a:t>
            </a:r>
          </a:p>
          <a:p>
            <a:pPr marL="12700" marR="2984500">
              <a:lnSpc>
                <a:spcPts val="4540"/>
              </a:lnSpc>
              <a:spcBef>
                <a:spcPts val="434"/>
              </a:spcBef>
            </a:pPr>
            <a:r>
              <a:rPr dirty="0"/>
              <a:t>Max</a:t>
            </a:r>
            <a:r>
              <a:rPr spc="-10" dirty="0"/>
              <a:t> </a:t>
            </a:r>
            <a:r>
              <a:rPr dirty="0"/>
              <a:t>size:</a:t>
            </a:r>
            <a:r>
              <a:rPr spc="-10" dirty="0"/>
              <a:t> </a:t>
            </a:r>
            <a:r>
              <a:rPr spc="-20" dirty="0"/>
              <a:t>10MB </a:t>
            </a:r>
            <a:r>
              <a:rPr dirty="0"/>
              <a:t>Filename</a:t>
            </a:r>
            <a:r>
              <a:rPr spc="-55" dirty="0"/>
              <a:t> </a:t>
            </a:r>
            <a:r>
              <a:rPr spc="-10" dirty="0"/>
              <a:t>sanitization</a:t>
            </a: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/>
              <a:t>Supported</a:t>
            </a:r>
            <a:r>
              <a:rPr spc="-40" dirty="0"/>
              <a:t> </a:t>
            </a:r>
            <a:r>
              <a:rPr dirty="0"/>
              <a:t>local</a:t>
            </a:r>
            <a:r>
              <a:rPr spc="-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cloud</a:t>
            </a:r>
            <a:r>
              <a:rPr spc="-25" dirty="0"/>
              <a:t> </a:t>
            </a:r>
            <a:r>
              <a:rPr dirty="0"/>
              <a:t>storage</a:t>
            </a:r>
            <a:r>
              <a:rPr spc="-30" dirty="0"/>
              <a:t> </a:t>
            </a:r>
            <a:r>
              <a:rPr dirty="0"/>
              <a:t>(AWS</a:t>
            </a:r>
            <a:r>
              <a:rPr spc="-30" dirty="0"/>
              <a:t> </a:t>
            </a:r>
            <a:r>
              <a:rPr spc="-20" dirty="0"/>
              <a:t>S3).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60" dirty="0"/>
              <a:t> </a:t>
            </a:r>
            <a:r>
              <a:rPr dirty="0"/>
              <a:t>4:</a:t>
            </a:r>
            <a:r>
              <a:rPr spc="-65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87116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630929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177029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720971"/>
            <a:ext cx="342900" cy="24638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978217" y="2929509"/>
            <a:ext cx="5730875" cy="2174953"/>
          </a:xfrm>
          <a:prstGeom prst="rect">
            <a:avLst/>
          </a:prstGeom>
        </p:spPr>
        <p:txBody>
          <a:bodyPr vert="horz" wrap="square" lIns="0" tIns="787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Used</a:t>
            </a:r>
            <a:r>
              <a:rPr spc="-15" dirty="0"/>
              <a:t> </a:t>
            </a:r>
            <a:r>
              <a:rPr dirty="0"/>
              <a:t>Mocha</a:t>
            </a:r>
            <a:r>
              <a:rPr spc="-25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Chai</a:t>
            </a:r>
            <a:r>
              <a:rPr spc="-35" dirty="0"/>
              <a:t> </a:t>
            </a:r>
            <a:r>
              <a:rPr dirty="0"/>
              <a:t>+</a:t>
            </a:r>
            <a:r>
              <a:rPr spc="-10" dirty="0"/>
              <a:t> </a:t>
            </a:r>
            <a:r>
              <a:rPr dirty="0"/>
              <a:t>Supertest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spc="-10" dirty="0"/>
              <a:t>testing.</a:t>
            </a:r>
          </a:p>
          <a:p>
            <a:pPr marL="12700" marR="5080">
              <a:lnSpc>
                <a:spcPts val="4300"/>
              </a:lnSpc>
              <a:spcBef>
                <a:spcPts val="400"/>
              </a:spcBef>
            </a:pPr>
            <a:r>
              <a:rPr dirty="0"/>
              <a:t>Tested</a:t>
            </a:r>
            <a:r>
              <a:rPr spc="-40" dirty="0"/>
              <a:t> </a:t>
            </a:r>
            <a:r>
              <a:rPr dirty="0"/>
              <a:t>major</a:t>
            </a:r>
            <a:r>
              <a:rPr spc="-35" dirty="0"/>
              <a:t> </a:t>
            </a:r>
            <a:r>
              <a:rPr dirty="0"/>
              <a:t>endpoints</a:t>
            </a:r>
            <a:r>
              <a:rPr spc="-40" dirty="0"/>
              <a:t> </a:t>
            </a:r>
            <a:r>
              <a:rPr dirty="0"/>
              <a:t>(POST,</a:t>
            </a:r>
            <a:r>
              <a:rPr spc="-50" dirty="0"/>
              <a:t> </a:t>
            </a:r>
            <a:r>
              <a:rPr dirty="0"/>
              <a:t>GET,</a:t>
            </a:r>
            <a:r>
              <a:rPr spc="-35" dirty="0"/>
              <a:t> </a:t>
            </a:r>
            <a:r>
              <a:rPr spc="-10" dirty="0" smtClean="0"/>
              <a:t>DELETE</a:t>
            </a:r>
            <a:r>
              <a:rPr lang="en-GB" spc="-10" dirty="0" smtClean="0"/>
              <a:t>,PUT</a:t>
            </a:r>
            <a:r>
              <a:rPr spc="-10" dirty="0" smtClean="0"/>
              <a:t>).</a:t>
            </a:r>
            <a:endParaRPr lang="en-GB" spc="-10" dirty="0" smtClean="0"/>
          </a:p>
          <a:p>
            <a:pPr marL="12700" marR="5080">
              <a:lnSpc>
                <a:spcPts val="4300"/>
              </a:lnSpc>
              <a:spcBef>
                <a:spcPts val="400"/>
              </a:spcBef>
            </a:pPr>
            <a:r>
              <a:rPr spc="-10" dirty="0" smtClean="0"/>
              <a:t> </a:t>
            </a:r>
            <a:r>
              <a:rPr dirty="0"/>
              <a:t>Achieved</a:t>
            </a:r>
            <a:r>
              <a:rPr spc="-10" dirty="0"/>
              <a:t> </a:t>
            </a:r>
            <a:r>
              <a:rPr dirty="0"/>
              <a:t>≥</a:t>
            </a:r>
            <a:r>
              <a:rPr spc="-15" dirty="0"/>
              <a:t> </a:t>
            </a:r>
            <a:r>
              <a:rPr dirty="0"/>
              <a:t>80%</a:t>
            </a:r>
            <a:r>
              <a:rPr spc="-30" dirty="0"/>
              <a:t> </a:t>
            </a:r>
            <a:r>
              <a:rPr dirty="0"/>
              <a:t>test</a:t>
            </a:r>
            <a:r>
              <a:rPr spc="-20" dirty="0"/>
              <a:t> </a:t>
            </a:r>
            <a:r>
              <a:rPr spc="-10" dirty="0"/>
              <a:t>coverage</a:t>
            </a:r>
            <a:r>
              <a:rPr spc="-10" dirty="0" smtClean="0"/>
              <a:t>.</a:t>
            </a:r>
            <a:endParaRPr spc="-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84448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971290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515230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061203"/>
            <a:ext cx="342900" cy="24638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61925" marR="274955" indent="-149860">
              <a:lnSpc>
                <a:spcPct val="102400"/>
              </a:lnSpc>
              <a:spcBef>
                <a:spcPts val="35"/>
              </a:spcBef>
            </a:pPr>
            <a:r>
              <a:rPr dirty="0"/>
              <a:t>Successfully</a:t>
            </a:r>
            <a:r>
              <a:rPr spc="-95" dirty="0"/>
              <a:t> </a:t>
            </a:r>
            <a:r>
              <a:rPr dirty="0"/>
              <a:t>developed</a:t>
            </a:r>
            <a:r>
              <a:rPr spc="-10" dirty="0"/>
              <a:t> </a:t>
            </a:r>
            <a:r>
              <a:rPr dirty="0"/>
              <a:t>functional</a:t>
            </a:r>
            <a:r>
              <a:rPr spc="-10" dirty="0"/>
              <a:t> </a:t>
            </a:r>
            <a:r>
              <a:rPr dirty="0"/>
              <a:t>RESTful</a:t>
            </a:r>
            <a:r>
              <a:rPr spc="-40" dirty="0"/>
              <a:t> </a:t>
            </a:r>
            <a:r>
              <a:rPr spc="-25" dirty="0"/>
              <a:t>API </a:t>
            </a:r>
            <a:r>
              <a:rPr spc="-10" dirty="0"/>
              <a:t>prototype.</a:t>
            </a:r>
          </a:p>
          <a:p>
            <a:pPr marL="12700" marR="736600">
              <a:lnSpc>
                <a:spcPts val="4280"/>
              </a:lnSpc>
              <a:spcBef>
                <a:spcPts val="415"/>
              </a:spcBef>
            </a:pPr>
            <a:r>
              <a:rPr dirty="0"/>
              <a:t>File</a:t>
            </a:r>
            <a:r>
              <a:rPr spc="-15" dirty="0"/>
              <a:t> </a:t>
            </a:r>
            <a:r>
              <a:rPr dirty="0"/>
              <a:t>upload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retrieval</a:t>
            </a:r>
            <a:r>
              <a:rPr spc="-25" dirty="0"/>
              <a:t> </a:t>
            </a:r>
            <a:r>
              <a:rPr dirty="0"/>
              <a:t>features</a:t>
            </a:r>
            <a:r>
              <a:rPr spc="-25" dirty="0"/>
              <a:t> </a:t>
            </a:r>
            <a:r>
              <a:rPr spc="-10" dirty="0"/>
              <a:t>validated. </a:t>
            </a:r>
            <a:r>
              <a:rPr dirty="0"/>
              <a:t>Achieved</a:t>
            </a:r>
            <a:r>
              <a:rPr spc="-20" dirty="0"/>
              <a:t> </a:t>
            </a:r>
            <a:r>
              <a:rPr dirty="0"/>
              <a:t>target</a:t>
            </a:r>
            <a:r>
              <a:rPr spc="-25" dirty="0"/>
              <a:t> </a:t>
            </a:r>
            <a:r>
              <a:rPr dirty="0"/>
              <a:t>test</a:t>
            </a:r>
            <a:r>
              <a:rPr spc="-40" dirty="0"/>
              <a:t> </a:t>
            </a:r>
            <a:r>
              <a:rPr dirty="0"/>
              <a:t>coverage</a:t>
            </a:r>
            <a:r>
              <a:rPr spc="-2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CI</a:t>
            </a:r>
            <a:r>
              <a:rPr spc="-5" dirty="0"/>
              <a:t> </a:t>
            </a:r>
            <a:r>
              <a:rPr spc="-10" dirty="0"/>
              <a:t>setup.</a:t>
            </a: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/>
              <a:t>Enhanced</a:t>
            </a:r>
            <a:r>
              <a:rPr spc="-30" dirty="0"/>
              <a:t> </a:t>
            </a:r>
            <a:r>
              <a:rPr dirty="0"/>
              <a:t>debugging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documentation</a:t>
            </a:r>
            <a:r>
              <a:rPr spc="-30" dirty="0"/>
              <a:t> </a:t>
            </a:r>
            <a:r>
              <a:rPr spc="-10" dirty="0"/>
              <a:t>practices.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Learnings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87116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630929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174490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061203"/>
            <a:ext cx="342900" cy="2463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78217" y="2995548"/>
            <a:ext cx="5783580" cy="233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Deepened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understanding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of</a:t>
            </a:r>
            <a:r>
              <a:rPr sz="2200" spc="-5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RESTful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architectures.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39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Applied</a:t>
            </a:r>
            <a:r>
              <a:rPr sz="22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Agile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TDD</a:t>
            </a:r>
            <a:r>
              <a:rPr sz="2200" spc="-2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methodologies.</a:t>
            </a:r>
            <a:endParaRPr sz="2200">
              <a:latin typeface="Times New Roman"/>
              <a:cs typeface="Times New Roman"/>
            </a:endParaRPr>
          </a:p>
          <a:p>
            <a:pPr marL="161925" marR="5080" indent="-149860">
              <a:lnSpc>
                <a:spcPct val="101600"/>
              </a:lnSpc>
              <a:spcBef>
                <a:spcPts val="160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Strengthened</a:t>
            </a:r>
            <a:r>
              <a:rPr sz="22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backend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 problem-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solving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version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control</a:t>
            </a:r>
            <a:r>
              <a:rPr sz="22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skills.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Prepared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real-world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backend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engineering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roles.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84448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968750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853051"/>
            <a:ext cx="342900" cy="24638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8217" y="2993009"/>
            <a:ext cx="6374130" cy="247269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61925" marR="5080" indent="-149860">
              <a:lnSpc>
                <a:spcPct val="102400"/>
              </a:lnSpc>
              <a:spcBef>
                <a:spcPts val="35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The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simulation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bridged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classroom</a:t>
            </a:r>
            <a:r>
              <a:rPr sz="2200" spc="-8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learning</a:t>
            </a:r>
            <a:r>
              <a:rPr sz="2200" spc="-5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with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industry experience.</a:t>
            </a:r>
            <a:endParaRPr sz="2200">
              <a:latin typeface="Times New Roman"/>
              <a:cs typeface="Times New Roman"/>
            </a:endParaRPr>
          </a:p>
          <a:p>
            <a:pPr marL="161925" marR="1278890" indent="-149860">
              <a:lnSpc>
                <a:spcPct val="102299"/>
              </a:lnSpc>
              <a:spcBef>
                <a:spcPts val="156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Improved</a:t>
            </a:r>
            <a:r>
              <a:rPr sz="2200" spc="-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coding,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testing,</a:t>
            </a:r>
            <a:r>
              <a:rPr sz="22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200" spc="-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documentation professionalism.</a:t>
            </a:r>
            <a:endParaRPr sz="2200">
              <a:latin typeface="Times New Roman"/>
              <a:cs typeface="Times New Roman"/>
            </a:endParaRPr>
          </a:p>
          <a:p>
            <a:pPr marL="161925" marR="941069" indent="-149860">
              <a:lnSpc>
                <a:spcPct val="102299"/>
              </a:lnSpc>
              <a:spcBef>
                <a:spcPts val="1560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Built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confidence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for</a:t>
            </a:r>
            <a:r>
              <a:rPr sz="2200" spc="-5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future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backend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projects</a:t>
            </a:r>
            <a:r>
              <a:rPr sz="2200" spc="-25" dirty="0">
                <a:solidFill>
                  <a:srgbClr val="282828"/>
                </a:solidFill>
                <a:latin typeface="Times New Roman"/>
                <a:cs typeface="Times New Roman"/>
              </a:rPr>
              <a:t> and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internships.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084448"/>
            <a:ext cx="342900" cy="2463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3971290"/>
            <a:ext cx="342900" cy="2463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4515230"/>
            <a:ext cx="342900" cy="2463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317" y="5061203"/>
            <a:ext cx="342900" cy="2463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78217" y="2993009"/>
            <a:ext cx="6339840" cy="289322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61925" marR="194310" indent="-149860">
              <a:lnSpc>
                <a:spcPct val="102400"/>
              </a:lnSpc>
              <a:spcBef>
                <a:spcPts val="35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Fielding,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R.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(2000).</a:t>
            </a:r>
            <a:r>
              <a:rPr sz="2200" spc="-7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Architectural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Styles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Network-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based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Software</a:t>
            </a:r>
            <a:r>
              <a:rPr sz="2200" spc="-2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Design.</a:t>
            </a:r>
            <a:endParaRPr sz="2200" dirty="0">
              <a:latin typeface="Times New Roman"/>
              <a:cs typeface="Times New Roman"/>
            </a:endParaRPr>
          </a:p>
          <a:p>
            <a:pPr marL="12700" marR="2094864">
              <a:lnSpc>
                <a:spcPts val="4280"/>
              </a:lnSpc>
              <a:spcBef>
                <a:spcPts val="415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Microsoft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REST</a:t>
            </a:r>
            <a:r>
              <a:rPr sz="2200" spc="-3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API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Design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Guide. </a:t>
            </a:r>
            <a:r>
              <a:rPr lang="en-GB" sz="2200" dirty="0" err="1" smtClean="0">
                <a:solidFill>
                  <a:srgbClr val="282828"/>
                </a:solidFill>
                <a:latin typeface="Times New Roman"/>
                <a:cs typeface="Times New Roman"/>
              </a:rPr>
              <a:t>SpringBoot</a:t>
            </a:r>
            <a:r>
              <a:rPr lang="en-GB" sz="2200" dirty="0" smtClean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 smtClean="0">
                <a:solidFill>
                  <a:srgbClr val="282828"/>
                </a:solidFill>
                <a:latin typeface="Times New Roman"/>
                <a:cs typeface="Times New Roman"/>
              </a:rPr>
              <a:t>&amp;</a:t>
            </a:r>
            <a:r>
              <a:rPr sz="2200" spc="-20" dirty="0" smtClean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Node.js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Documentation.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Mocha,</a:t>
            </a:r>
            <a:r>
              <a:rPr sz="2200" spc="-4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Chai,</a:t>
            </a:r>
            <a:r>
              <a:rPr sz="2200" spc="-5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sz="2200" spc="-5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Supertest</a:t>
            </a:r>
            <a:r>
              <a:rPr sz="2200" spc="-3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82828"/>
                </a:solidFill>
                <a:latin typeface="Times New Roman"/>
                <a:cs typeface="Times New Roman"/>
              </a:rPr>
              <a:t>Framework</a:t>
            </a:r>
            <a:r>
              <a:rPr sz="2200" spc="-4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Times New Roman"/>
                <a:cs typeface="Times New Roman"/>
              </a:rPr>
              <a:t>Documentation.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417</Words>
  <Application>Microsoft Office PowerPoint</Application>
  <PresentationFormat>Custom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Times New Roman</vt:lpstr>
      <vt:lpstr>Office Theme</vt:lpstr>
      <vt:lpstr>Software Engineering Job Simulation</vt:lpstr>
      <vt:lpstr>Objective</vt:lpstr>
      <vt:lpstr>Program Overview</vt:lpstr>
      <vt:lpstr>PowerPoint Presentation</vt:lpstr>
      <vt:lpstr>PowerPoint Presentation</vt:lpstr>
      <vt:lpstr>PowerPoint Presentation</vt:lpstr>
      <vt:lpstr>Module 2: RESTful Web Service</vt:lpstr>
      <vt:lpstr>Module 3: File Upload Handling</vt:lpstr>
      <vt:lpstr>Module 4: Testing</vt:lpstr>
      <vt:lpstr>Results</vt:lpstr>
      <vt:lpstr>Key Learnings</vt:lpstr>
      <vt:lpstr>Conclusion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Software_Engineering_Training_Presentation_Academic_Harshit_Jain (1) {final}</dc:title>
  <dc:creator>krish Makharia</dc:creator>
  <cp:lastModifiedBy>Microsoft account</cp:lastModifiedBy>
  <cp:revision>1</cp:revision>
  <dcterms:created xsi:type="dcterms:W3CDTF">2025-11-11T12:51:10Z</dcterms:created>
  <dcterms:modified xsi:type="dcterms:W3CDTF">2025-11-11T12:56:22Z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Creator">
    <vt:lpwstr>Microsoft® Word 2013</vt:lpwstr>
  </property>
  <property fmtid="{D5CDD505-2E9C-101B-9397-08002B2CF9AE}" pid="4" name="LastSaved">
    <vt:filetime>2025-11-11T00:00:00Z</vt:filetime>
  </property>
  <property fmtid="{D5CDD505-2E9C-101B-9397-08002B2CF9AE}" pid="5" name="Producer">
    <vt:lpwstr>Microsoft® Word 2013</vt:lpwstr>
  </property>
</Properties>
</file>